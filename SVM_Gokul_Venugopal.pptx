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  <p:sldId id="266" r:id="rId12"/>
    <p:sldId id="267" r:id="rId13"/>
    <p:sldId id="270" r:id="rId14"/>
    <p:sldId id="268" r:id="rId15"/>
    <p:sldId id="271" r:id="rId16"/>
    <p:sldId id="272" r:id="rId17"/>
    <p:sldId id="273" r:id="rId18"/>
    <p:sldId id="274" r:id="rId19"/>
    <p:sldId id="275" r:id="rId20"/>
    <p:sldId id="26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51" d="100"/>
          <a:sy n="51" d="100"/>
        </p:scale>
        <p:origin x="898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F6198-A6C6-4C01-B973-7BBFB0F45FC2}" type="datetimeFigureOut">
              <a:rPr lang="en-US" smtClean="0"/>
              <a:t>10/15/2019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5D341-C388-4DFC-8F53-B7DAA6BF5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788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F6198-A6C6-4C01-B973-7BBFB0F45FC2}" type="datetimeFigureOut">
              <a:rPr lang="en-US" smtClean="0"/>
              <a:t>10/15/2019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5D341-C388-4DFC-8F53-B7DAA6BF5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87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F6198-A6C6-4C01-B973-7BBFB0F45FC2}" type="datetimeFigureOut">
              <a:rPr lang="en-US" smtClean="0"/>
              <a:t>10/15/2019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5D341-C388-4DFC-8F53-B7DAA6BF5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465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F6198-A6C6-4C01-B973-7BBFB0F45FC2}" type="datetimeFigureOut">
              <a:rPr lang="en-US" smtClean="0"/>
              <a:t>10/15/2019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5D341-C388-4DFC-8F53-B7DAA6BF5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307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F6198-A6C6-4C01-B973-7BBFB0F45FC2}" type="datetimeFigureOut">
              <a:rPr lang="en-US" smtClean="0"/>
              <a:t>10/15/2019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5D341-C388-4DFC-8F53-B7DAA6BF5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775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F6198-A6C6-4C01-B973-7BBFB0F45FC2}" type="datetimeFigureOut">
              <a:rPr lang="en-US" smtClean="0"/>
              <a:t>10/15/2019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5D341-C388-4DFC-8F53-B7DAA6BF5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166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F6198-A6C6-4C01-B973-7BBFB0F45FC2}" type="datetimeFigureOut">
              <a:rPr lang="en-US" smtClean="0"/>
              <a:t>10/15/2019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5D341-C388-4DFC-8F53-B7DAA6BF5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880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F6198-A6C6-4C01-B973-7BBFB0F45FC2}" type="datetimeFigureOut">
              <a:rPr lang="en-US" smtClean="0"/>
              <a:t>10/15/2019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5D341-C388-4DFC-8F53-B7DAA6BF5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493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F6198-A6C6-4C01-B973-7BBFB0F45FC2}" type="datetimeFigureOut">
              <a:rPr lang="en-US" smtClean="0"/>
              <a:t>10/15/2019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5D341-C388-4DFC-8F53-B7DAA6BF5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5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F6198-A6C6-4C01-B973-7BBFB0F45FC2}" type="datetimeFigureOut">
              <a:rPr lang="en-US" smtClean="0"/>
              <a:t>10/15/2019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5D341-C388-4DFC-8F53-B7DAA6BF5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373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F6198-A6C6-4C01-B973-7BBFB0F45FC2}" type="datetimeFigureOut">
              <a:rPr lang="en-US" smtClean="0"/>
              <a:t>10/15/2019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5D341-C388-4DFC-8F53-B7DAA6BF5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2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F6198-A6C6-4C01-B973-7BBFB0F45FC2}" type="datetimeFigureOut">
              <a:rPr lang="en-US" smtClean="0"/>
              <a:t>10/15/2019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5D341-C388-4DFC-8F53-B7DAA6BF50D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952775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F6198-A6C6-4C01-B973-7BBFB0F45FC2}" type="datetimeFigureOut">
              <a:rPr lang="en-US" smtClean="0"/>
              <a:t>10/15/2019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5D341-C388-4DFC-8F53-B7DAA6BF5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7434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F6198-A6C6-4C01-B973-7BBFB0F45FC2}" type="datetimeFigureOut">
              <a:rPr lang="en-US" smtClean="0"/>
              <a:t>10/15/2019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5D341-C388-4DFC-8F53-B7DAA6BF5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7486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F6198-A6C6-4C01-B973-7BBFB0F45FC2}" type="datetimeFigureOut">
              <a:rPr lang="en-US" smtClean="0"/>
              <a:t>10/15/2019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5D341-C388-4DFC-8F53-B7DAA6BF5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3240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F6198-A6C6-4C01-B973-7BBFB0F45FC2}" type="datetimeFigureOut">
              <a:rPr lang="en-US" smtClean="0"/>
              <a:t>10/15/2019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5D341-C388-4DFC-8F53-B7DAA6BF5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6766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F6198-A6C6-4C01-B973-7BBFB0F45FC2}" type="datetimeFigureOut">
              <a:rPr lang="en-US" smtClean="0"/>
              <a:t>10/15/2019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5D341-C388-4DFC-8F53-B7DAA6BF5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389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7B2F6198-A6C6-4C01-B973-7BBFB0F45FC2}" type="datetimeFigureOut">
              <a:rPr lang="en-US" smtClean="0"/>
              <a:t>10/15/2019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87A5D341-C388-4DFC-8F53-B7DAA6BF5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5132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4962833-2EBB-47A0-9823-D4F8E16EE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458B6D-BE96-4529-B707-B78FBD035B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77313" y="687388"/>
            <a:ext cx="6290687" cy="5483225"/>
          </a:xfrm>
          <a:effectLst/>
        </p:spPr>
        <p:txBody>
          <a:bodyPr wrap="square" anchor="ctr">
            <a:normAutofit/>
          </a:bodyPr>
          <a:lstStyle/>
          <a:p>
            <a:pPr algn="l"/>
            <a:r>
              <a:rPr lang="en-US" sz="7200">
                <a:solidFill>
                  <a:schemeClr val="tx1">
                    <a:lumMod val="95000"/>
                  </a:schemeClr>
                </a:solidFill>
              </a:rPr>
              <a:t>SVM using CUDA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013B43-2C62-49DC-ACC6-F803238115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1295400"/>
            <a:ext cx="2895646" cy="4267200"/>
          </a:xfrm>
        </p:spPr>
        <p:txBody>
          <a:bodyPr anchor="ctr">
            <a:normAutofit/>
          </a:bodyPr>
          <a:lstStyle/>
          <a:p>
            <a:r>
              <a:rPr lang="en-US" sz="2400" u="sng" dirty="0">
                <a:solidFill>
                  <a:schemeClr val="tx1">
                    <a:lumMod val="95000"/>
                  </a:schemeClr>
                </a:solidFill>
              </a:rPr>
              <a:t>Final Project</a:t>
            </a:r>
          </a:p>
          <a:p>
            <a:endParaRPr lang="en-US" sz="2400" dirty="0">
              <a:solidFill>
                <a:schemeClr val="tx1">
                  <a:lumMod val="95000"/>
                </a:schemeClr>
              </a:solidFill>
            </a:endParaRPr>
          </a:p>
          <a:p>
            <a:endParaRPr lang="en-US" sz="2400" dirty="0">
              <a:solidFill>
                <a:schemeClr val="tx1">
                  <a:lumMod val="95000"/>
                </a:schemeClr>
              </a:solidFill>
            </a:endParaRPr>
          </a:p>
          <a:p>
            <a:endParaRPr lang="en-US" sz="2400" dirty="0">
              <a:solidFill>
                <a:schemeClr val="tx1">
                  <a:lumMod val="95000"/>
                </a:schemeClr>
              </a:solidFill>
            </a:endParaRPr>
          </a:p>
          <a:p>
            <a:endParaRPr lang="en-US" sz="2400" dirty="0">
              <a:solidFill>
                <a:schemeClr val="tx1">
                  <a:lumMod val="95000"/>
                </a:schemeClr>
              </a:solidFill>
            </a:endParaRPr>
          </a:p>
          <a:p>
            <a:endParaRPr lang="en-US" sz="2400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en-US" sz="2400" dirty="0">
                <a:solidFill>
                  <a:schemeClr val="tx1">
                    <a:lumMod val="95000"/>
                  </a:schemeClr>
                </a:solidFill>
              </a:rPr>
              <a:t>Gokul Venugopal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1FCCE20-1E4F-44FF-87B4-379D391A2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5580" y="2032907"/>
            <a:ext cx="0" cy="27921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5258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C9D4E-802F-4027-909F-85D70D96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8E3AB-59CC-4F2D-8769-DB04A0A14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0" y="2141537"/>
            <a:ext cx="10233800" cy="4351338"/>
          </a:xfrm>
        </p:spPr>
        <p:txBody>
          <a:bodyPr/>
          <a:lstStyle/>
          <a:p>
            <a:r>
              <a:rPr lang="en-US" dirty="0"/>
              <a:t>SVM is a Supervised Learning.</a:t>
            </a:r>
          </a:p>
          <a:p>
            <a:r>
              <a:rPr lang="en-US" dirty="0"/>
              <a:t>It is a binary classifier.</a:t>
            </a:r>
          </a:p>
          <a:p>
            <a:r>
              <a:rPr lang="en-US" dirty="0"/>
              <a:t>Classification is done by defining a hyperplane that is at maximum distance from all points.</a:t>
            </a:r>
          </a:p>
          <a:p>
            <a:r>
              <a:rPr lang="en-US" dirty="0"/>
              <a:t>Project is used to classify sample data set to classes {-1, 1}</a:t>
            </a:r>
          </a:p>
          <a:p>
            <a:r>
              <a:rPr lang="en-US" dirty="0"/>
              <a:t>SVM has been implemented on both CPU and GPU</a:t>
            </a:r>
          </a:p>
        </p:txBody>
      </p:sp>
    </p:spTree>
    <p:extLst>
      <p:ext uri="{BB962C8B-B14F-4D97-AF65-F5344CB8AC3E}">
        <p14:creationId xmlns:p14="http://schemas.microsoft.com/office/powerpoint/2010/main" val="152764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D4E11C7-7BD5-4045-AC27-3F529BEC7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C187E-DC7B-4BCE-88A4-5F6A9A5D3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786"/>
            <a:ext cx="3473851" cy="4626428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US" sz="4000">
                <a:solidFill>
                  <a:schemeClr val="tx1">
                    <a:lumMod val="95000"/>
                  </a:schemeClr>
                </a:solidFill>
              </a:rPr>
              <a:t>Theory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1FCCE20-1E4F-44FF-87B4-379D391A2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32907"/>
            <a:ext cx="0" cy="279218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CBFF0B-8A94-4264-8620-77972F60DF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96543" y="1115786"/>
                <a:ext cx="5713790" cy="4626428"/>
              </a:xfrm>
            </p:spPr>
            <p:txBody>
              <a:bodyPr anchor="ctr">
                <a:normAutofit/>
              </a:bodyPr>
              <a:lstStyle/>
              <a:p>
                <a:r>
                  <a:rPr lang="en-US" sz="2000" i="1" dirty="0">
                    <a:solidFill>
                      <a:schemeClr val="tx1">
                        <a:lumMod val="95000"/>
                      </a:schemeClr>
                    </a:solidFill>
                    <a:latin typeface="Cambria Math" panose="02040503050406030204" pitchFamily="18" charset="0"/>
                  </a:rPr>
                  <a:t>Hyperplane is defined by</a:t>
                </a:r>
              </a:p>
              <a:p>
                <a:pPr marL="0" indent="0">
                  <a:buNone/>
                </a:pPr>
                <a:endParaRPr lang="en-US" sz="2000" i="1" dirty="0">
                  <a:solidFill>
                    <a:schemeClr val="tx1">
                      <a:lumMod val="9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000" i="1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solidFill>
                                        <a:schemeClr val="tx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solidFill>
                                        <a:schemeClr val="tx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̅"/>
                              <m:ctrlPr>
                                <a:rPr lang="en-US" sz="2000" i="1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  <m:r>
                            <a:rPr lang="en-US" sz="20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2000" i="1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−1=0</m:t>
                      </m:r>
                    </m:oMath>
                  </m:oMathPara>
                </a14:m>
                <a:endParaRPr lang="en-US" sz="2000" dirty="0">
                  <a:solidFill>
                    <a:schemeClr val="tx1">
                      <a:lumMod val="95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chemeClr val="tx1">
                        <a:lumMod val="95000"/>
                      </a:schemeClr>
                    </a:solidFill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000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>
                        <a:lumMod val="95000"/>
                      </a:schemeClr>
                    </a:solidFill>
                  </a:rPr>
                  <a:t> - class of a data point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000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>
                        <a:lumMod val="95000"/>
                      </a:schemeClr>
                    </a:solidFill>
                  </a:rPr>
                  <a:t> - input data point (features)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lang="en-US" sz="2000" dirty="0">
                    <a:solidFill>
                      <a:schemeClr val="tx1">
                        <a:lumMod val="95000"/>
                      </a:schemeClr>
                    </a:solidFill>
                  </a:rPr>
                  <a:t> - weights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95000"/>
                      </a:schemeClr>
                    </a:solidFill>
                  </a:rPr>
                  <a:t> - bias</a:t>
                </a:r>
              </a:p>
              <a:p>
                <a:pPr marL="0" indent="0">
                  <a:buNone/>
                </a:pPr>
                <a:endParaRPr lang="en-US" sz="2000" dirty="0">
                  <a:solidFill>
                    <a:schemeClr val="tx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CBFF0B-8A94-4264-8620-77972F60DF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96543" y="1115786"/>
                <a:ext cx="5713790" cy="4626428"/>
              </a:xfrm>
              <a:blipFill>
                <a:blip r:embed="rId3"/>
                <a:stretch>
                  <a:fillRect l="-1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8618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A4D15-425B-4932-A4AE-D0D0CE3D6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86ECB8-EC58-49AB-8193-7104D766E5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20000" y="1825625"/>
                <a:ext cx="10233800" cy="3632783"/>
              </a:xfrm>
            </p:spPr>
            <p:txBody>
              <a:bodyPr/>
              <a:lstStyle/>
              <a:p>
                <a:r>
                  <a:rPr lang="en-US" dirty="0"/>
                  <a:t>Hyperplane is used to classify. </a:t>
                </a:r>
              </a:p>
              <a:p>
                <a:r>
                  <a:rPr lang="en-US" dirty="0"/>
                  <a:t>If a new data point satisfies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solidFill>
                                      <a:schemeClr val="tx1">
                                        <a:lumMod val="9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solidFill>
                                      <a:schemeClr val="tx1">
                                        <a:lumMod val="9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  <m:r>
                          <a:rPr lang="en-US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b="0" i="1" smtClean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dirty="0"/>
                  <a:t>, then class is -1.</a:t>
                </a:r>
              </a:p>
              <a:p>
                <a:r>
                  <a:rPr lang="en-US" dirty="0"/>
                  <a:t>If it is greater than 0, then class is 1.</a:t>
                </a:r>
              </a:p>
              <a:p>
                <a:r>
                  <a:rPr lang="en-US" dirty="0"/>
                  <a:t>To train a SVM, we have to find least ||w|| and least b that satisfies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solidFill>
                                      <a:schemeClr val="tx1">
                                        <a:lumMod val="9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solidFill>
                                      <a:schemeClr val="tx1">
                                        <a:lumMod val="9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  <m:r>
                          <a:rPr lang="en-US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= 0.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86ECB8-EC58-49AB-8193-7104D766E5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20000" y="1825625"/>
                <a:ext cx="10233800" cy="363278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9326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043FF-B86B-4139-844C-FA42CDCC9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B649B-13E0-4DC2-95D5-883A123ED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Sample Input Data Points: { (1,7), (2,8), (3,8), (5,1), (7,3), (6,-1)}</a:t>
            </a:r>
          </a:p>
          <a:p>
            <a:r>
              <a:rPr lang="en-US" dirty="0"/>
              <a:t>Sample Output class: { -1, -1, -1, 1, 1, 1 }</a:t>
            </a:r>
          </a:p>
          <a:p>
            <a:r>
              <a:rPr lang="en-US" dirty="0"/>
              <a:t>Sample data to be predicted: { (0,10), (1,3), (3,4), (3,5), (5,5), (5,6), (6,-5), (5,8) }</a:t>
            </a:r>
          </a:p>
          <a:p>
            <a:r>
              <a:rPr lang="en-US" dirty="0"/>
              <a:t>To find minimum ||w|| and b that satisfy equation, we iterate over the maximum range at the step intervals</a:t>
            </a:r>
          </a:p>
          <a:p>
            <a:pPr marL="0" indent="0" algn="ctr">
              <a:buNone/>
            </a:pPr>
            <a:r>
              <a:rPr lang="en-US" sz="2400" dirty="0"/>
              <a:t>- (max value in input data*10) &lt; w &lt; (max value in input data*10)</a:t>
            </a:r>
          </a:p>
          <a:p>
            <a:pPr algn="ctr">
              <a:buFontTx/>
              <a:buChar char="-"/>
            </a:pPr>
            <a:r>
              <a:rPr lang="en-US" sz="2400" dirty="0"/>
              <a:t>(max value in input data*5) &lt; b &lt; (max value in input data* 5)</a:t>
            </a:r>
          </a:p>
          <a:p>
            <a:pPr marL="0" indent="0" algn="ctr">
              <a:buNone/>
            </a:pPr>
            <a:r>
              <a:rPr lang="en-US" sz="2400" dirty="0"/>
              <a:t>Step values: {max*0.1, max*0.01, max*0.001}</a:t>
            </a:r>
          </a:p>
        </p:txBody>
      </p:sp>
    </p:spTree>
    <p:extLst>
      <p:ext uri="{BB962C8B-B14F-4D97-AF65-F5344CB8AC3E}">
        <p14:creationId xmlns:p14="http://schemas.microsoft.com/office/powerpoint/2010/main" val="3923158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083DF-F2E2-46EB-A6F3-817B844E2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BA7FE4-E545-4F4C-898E-0DE9FBD37D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20000" y="2637388"/>
                <a:ext cx="10233800" cy="3296881"/>
              </a:xfrm>
            </p:spPr>
            <p:txBody>
              <a:bodyPr/>
              <a:lstStyle/>
              <a:p>
                <a:r>
                  <a:rPr lang="en-US" dirty="0"/>
                  <a:t>On Training model, following parameters were found out.</a:t>
                </a:r>
              </a:p>
              <a:p>
                <a:pPr marL="0" indent="0" algn="ctr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lang="en-US" dirty="0"/>
                  <a:t> = {0.227486 x -0.227486}</a:t>
                </a:r>
              </a:p>
              <a:p>
                <a:pPr marL="0" indent="0" algn="ctr">
                  <a:buNone/>
                </a:pPr>
                <a:r>
                  <a:rPr lang="en-US" dirty="0"/>
                  <a:t>||w|| = 0.321714</a:t>
                </a:r>
              </a:p>
              <a:p>
                <a:pPr marL="0" indent="0" algn="ctr">
                  <a:buNone/>
                </a:pPr>
                <a:r>
                  <a:rPr lang="en-US" dirty="0"/>
                  <a:t>b = 0.12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BA7FE4-E545-4F4C-898E-0DE9FBD37D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20000" y="2637388"/>
                <a:ext cx="10233800" cy="329688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7218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480BC-0452-457B-B4C0-F1C25ACFD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45932"/>
            <a:ext cx="10515600" cy="959586"/>
          </a:xfrm>
        </p:spPr>
        <p:txBody>
          <a:bodyPr vert="horz" wrap="none" lIns="91440" tIns="45720" rIns="91440" bIns="45720" rtlCol="0" anchor="t">
            <a:normAutofit/>
          </a:bodyPr>
          <a:lstStyle/>
          <a:p>
            <a:pPr algn="r"/>
            <a:r>
              <a:rPr lang="en-US" sz="400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rPr>
              <a:t>CPU Benchmark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CAA4549D-41EF-4345-A415-21552208CA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1" y="1194386"/>
            <a:ext cx="10515598" cy="3338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910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7">
            <a:extLst>
              <a:ext uri="{FF2B5EF4-FFF2-40B4-BE49-F238E27FC236}">
                <a16:creationId xmlns:a16="http://schemas.microsoft.com/office/drawing/2014/main" id="{BD4E11C7-7BD5-4045-AC27-3F529BEC7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4368C3-EC09-48E4-AF50-225B50747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786"/>
            <a:ext cx="3473851" cy="4626428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US" sz="3700">
                <a:solidFill>
                  <a:schemeClr val="tx1">
                    <a:lumMod val="95000"/>
                  </a:schemeClr>
                </a:solidFill>
              </a:rPr>
              <a:t>GPU Implementation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1FCCE20-1E4F-44FF-87B4-379D391A2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32907"/>
            <a:ext cx="0" cy="279218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B5522-CBC9-47B6-942A-9371421C5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6543" y="1115786"/>
            <a:ext cx="5713790" cy="4626428"/>
          </a:xfrm>
        </p:spPr>
        <p:txBody>
          <a:bodyPr anchor="ctr">
            <a:normAutofit/>
          </a:bodyPr>
          <a:lstStyle/>
          <a:p>
            <a:r>
              <a:rPr lang="en-US" sz="2000" dirty="0">
                <a:solidFill>
                  <a:schemeClr val="tx1">
                    <a:lumMod val="95000"/>
                  </a:schemeClr>
                </a:solidFill>
              </a:rPr>
              <a:t>To resolve the optimization problem for w, ||w|| and b, GPU implementation was divided into three kernels: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000" dirty="0" err="1">
                <a:solidFill>
                  <a:schemeClr val="tx1">
                    <a:lumMod val="95000"/>
                  </a:schemeClr>
                </a:solidFill>
              </a:rPr>
              <a:t>d_getAllOptimal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</a:rPr>
              <a:t> – used to find all possible combination of w, ||w|| and b that satisfy the hyperplane equation.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000" dirty="0" err="1">
                <a:solidFill>
                  <a:schemeClr val="tx1">
                    <a:lumMod val="95000"/>
                  </a:schemeClr>
                </a:solidFill>
              </a:rPr>
              <a:t>d_findMinOptimal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</a:rPr>
              <a:t> – uses </a:t>
            </a:r>
            <a:r>
              <a:rPr lang="en-US" sz="2000" dirty="0" err="1">
                <a:solidFill>
                  <a:schemeClr val="tx1">
                    <a:lumMod val="95000"/>
                  </a:schemeClr>
                </a:solidFill>
              </a:rPr>
              <a:t>cublasIsamin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</a:rPr>
              <a:t> to find the index of the least ||w|| in the array of combination and returns optimal ||w||, w and b.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000" dirty="0" err="1">
                <a:solidFill>
                  <a:schemeClr val="tx1">
                    <a:lumMod val="95000"/>
                  </a:schemeClr>
                </a:solidFill>
              </a:rPr>
              <a:t>d_callpredict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</a:rPr>
              <a:t> – used to find class of the sample predict data set</a:t>
            </a:r>
          </a:p>
        </p:txBody>
      </p:sp>
    </p:spTree>
    <p:extLst>
      <p:ext uri="{BB962C8B-B14F-4D97-AF65-F5344CB8AC3E}">
        <p14:creationId xmlns:p14="http://schemas.microsoft.com/office/powerpoint/2010/main" val="722423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5F8AC-7AEB-4702-9053-0CEDD9F38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>
                    <a:lumMod val="95000"/>
                  </a:schemeClr>
                </a:solidFill>
              </a:rPr>
              <a:t>d_getAllOptimal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9CF616-DFC8-4BAC-A459-6CEB726ED9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Kernel function used to find all possible combination of ||w||, w &amp; b.</a:t>
                </a:r>
              </a:p>
              <a:p>
                <a:r>
                  <a:rPr lang="en-US" dirty="0"/>
                  <a:t>It is done by scanning through a 3d matrix given by w0 x w1 x b where w0 and w1 contributes to w vector.</a:t>
                </a:r>
              </a:p>
              <a:p>
                <a:r>
                  <a:rPr lang="en-US" dirty="0"/>
                  <a:t>w0 and w1 ranges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dirty="0"/>
                  <a:t> with division = w range/step value.</a:t>
                </a:r>
              </a:p>
              <a:p>
                <a:r>
                  <a:rPr lang="en-US" dirty="0"/>
                  <a:t>b ranges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</m:oMath>
                </a14:m>
                <a:r>
                  <a:rPr lang="en-US" dirty="0"/>
                  <a:t> with divisions = b range/step value.</a:t>
                </a:r>
              </a:p>
              <a:p>
                <a:r>
                  <a:rPr lang="en-US" dirty="0"/>
                  <a:t>Step value can be 0.1, 0.01, and 0.001</a:t>
                </a:r>
              </a:p>
              <a:p>
                <a:r>
                  <a:rPr lang="en-US" dirty="0"/>
                  <a:t>Kernel: &lt;&lt;&lt; (#of w division/32 +1, #of w1 divisions/32 , # of b divisions), (32,32) &gt;&gt;&gt;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9CF616-DFC8-4BAC-A459-6CEB726ED9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3379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267ED-EC3F-4C1A-8111-64AC656CE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>
                    <a:lumMod val="95000"/>
                  </a:schemeClr>
                </a:solidFill>
              </a:rPr>
              <a:t>d_findMinOptimal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40B37-B40D-49DF-B590-097058C42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cublasIsamin</a:t>
            </a:r>
            <a:r>
              <a:rPr lang="en-US" dirty="0"/>
              <a:t> finds the (smallest) index of the element of the minimum magnitude</a:t>
            </a:r>
          </a:p>
          <a:p>
            <a:r>
              <a:rPr lang="en-US" dirty="0"/>
              <a:t>This index is then used to fetch ||w||, w and b.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err="1"/>
              <a:t>cublasStatus_t</a:t>
            </a:r>
            <a:r>
              <a:rPr lang="en-US" dirty="0"/>
              <a:t> </a:t>
            </a:r>
            <a:r>
              <a:rPr lang="en-US" dirty="0" err="1"/>
              <a:t>cublasIsamin</a:t>
            </a:r>
            <a:r>
              <a:rPr lang="en-US" dirty="0"/>
              <a:t>(</a:t>
            </a:r>
            <a:r>
              <a:rPr lang="en-US" dirty="0" err="1"/>
              <a:t>cublasHandle_t</a:t>
            </a:r>
            <a:r>
              <a:rPr lang="en-US" dirty="0"/>
              <a:t> handle, int n, const float *x, int </a:t>
            </a:r>
            <a:r>
              <a:rPr lang="en-US" dirty="0" err="1"/>
              <a:t>incx</a:t>
            </a:r>
            <a:r>
              <a:rPr lang="en-US" dirty="0"/>
              <a:t>, int *result)</a:t>
            </a:r>
          </a:p>
        </p:txBody>
      </p:sp>
    </p:spTree>
    <p:extLst>
      <p:ext uri="{BB962C8B-B14F-4D97-AF65-F5344CB8AC3E}">
        <p14:creationId xmlns:p14="http://schemas.microsoft.com/office/powerpoint/2010/main" val="2168560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5EBDA-3198-4B6B-AA68-DE7743A3E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>
                    <a:lumMod val="95000"/>
                  </a:schemeClr>
                </a:solidFill>
              </a:rPr>
              <a:t>d_callpredict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12BAC-8E86-4DA0-9101-2F0581AFC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Executes the hyperplane equation for data set for prediction.</a:t>
            </a:r>
          </a:p>
          <a:p>
            <a:r>
              <a:rPr lang="en-US" dirty="0"/>
              <a:t>Kernel:</a:t>
            </a:r>
          </a:p>
          <a:p>
            <a:pPr marL="0" indent="0">
              <a:buNone/>
            </a:pPr>
            <a:r>
              <a:rPr lang="en-US" dirty="0"/>
              <a:t>&lt;&lt;&lt; (# of data points/32 +1, size of data points/32 + 1), (32, 32)&gt;&gt;&gt;</a:t>
            </a:r>
          </a:p>
          <a:p>
            <a:r>
              <a:rPr lang="en-US" dirty="0"/>
              <a:t>Resultant array consists of classes.</a:t>
            </a:r>
          </a:p>
        </p:txBody>
      </p:sp>
    </p:spTree>
    <p:extLst>
      <p:ext uri="{BB962C8B-B14F-4D97-AF65-F5344CB8AC3E}">
        <p14:creationId xmlns:p14="http://schemas.microsoft.com/office/powerpoint/2010/main" val="1297486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9ADF8-CAF2-4A5D-AA51-3348052F0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45932"/>
            <a:ext cx="10515600" cy="959586"/>
          </a:xfrm>
        </p:spPr>
        <p:txBody>
          <a:bodyPr vert="horz" wrap="none" lIns="91440" tIns="45720" rIns="91440" bIns="45720" rtlCol="0" anchor="t">
            <a:normAutofit/>
          </a:bodyPr>
          <a:lstStyle/>
          <a:p>
            <a:pPr algn="r"/>
            <a:r>
              <a:rPr lang="en-US" sz="400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rPr>
              <a:t>GPU Profiling Overview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F1B2B78-586C-4534-8827-E18CD70F3B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0228" y="2203408"/>
            <a:ext cx="11791544" cy="1823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547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A079BE1-ED93-4445-AD4A-0D6710970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1998"/>
          </a:xfrm>
          <a:prstGeom prst="rect">
            <a:avLst/>
          </a:prstGeom>
          <a:solidFill>
            <a:schemeClr val="bg1">
              <a:alpha val="1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F6C79BF-A4E0-4CC8-952B-C736485CA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7"/>
            <a:ext cx="12192000" cy="2285999"/>
          </a:xfrm>
          <a:prstGeom prst="rect">
            <a:avLst/>
          </a:prstGeom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B9AB89-F5FC-46B2-A2C2-6F450643C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4824690"/>
            <a:ext cx="3724138" cy="1395140"/>
          </a:xfrm>
        </p:spPr>
        <p:txBody>
          <a:bodyPr anchor="ctr">
            <a:normAutofit/>
          </a:bodyPr>
          <a:lstStyle/>
          <a:p>
            <a:pPr algn="r"/>
            <a:r>
              <a:rPr lang="en-US" sz="3200">
                <a:solidFill>
                  <a:schemeClr val="tx1"/>
                </a:solidFill>
              </a:rPr>
              <a:t>Profiling Overview</a:t>
            </a: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42042136-F0E4-4A10-AB87-5B0FFE65C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847806"/>
            <a:ext cx="10905066" cy="318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519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B207D-D79A-44F7-84DF-065301C77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Profiling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DE3A3C0-7760-4E1D-951F-102D9C41BF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0775" y="2368956"/>
            <a:ext cx="10233025" cy="326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351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A079BE1-ED93-4445-AD4A-0D6710970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1998"/>
          </a:xfrm>
          <a:prstGeom prst="rect">
            <a:avLst/>
          </a:prstGeom>
          <a:solidFill>
            <a:schemeClr val="bg1">
              <a:alpha val="1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F6C79BF-A4E0-4CC8-952B-C736485CA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7"/>
            <a:ext cx="12192000" cy="2285999"/>
          </a:xfrm>
          <a:prstGeom prst="rect">
            <a:avLst/>
          </a:prstGeom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1A1D81-B9E8-49F3-9C28-8A207A696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4824690"/>
            <a:ext cx="3724138" cy="1395140"/>
          </a:xfrm>
        </p:spPr>
        <p:txBody>
          <a:bodyPr anchor="ctr">
            <a:normAutofit/>
          </a:bodyPr>
          <a:lstStyle/>
          <a:p>
            <a:pPr algn="r"/>
            <a:r>
              <a:rPr lang="en-US" sz="3200">
                <a:solidFill>
                  <a:schemeClr val="tx1"/>
                </a:solidFill>
              </a:rPr>
              <a:t>D_findMinOptimal Profiling</a:t>
            </a: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F60CB3C8-4E81-4284-98BF-652CAAB71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1202221"/>
            <a:ext cx="10905066" cy="248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0573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A079BE1-ED93-4445-AD4A-0D6710970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1998"/>
          </a:xfrm>
          <a:prstGeom prst="rect">
            <a:avLst/>
          </a:prstGeom>
          <a:solidFill>
            <a:schemeClr val="bg1">
              <a:alpha val="1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F6C79BF-A4E0-4CC8-952B-C736485CA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7"/>
            <a:ext cx="12192000" cy="2285999"/>
          </a:xfrm>
          <a:prstGeom prst="rect">
            <a:avLst/>
          </a:prstGeom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AEDB39-6501-4298-B245-DD15B2D31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4824690"/>
            <a:ext cx="3724138" cy="13951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3200" spc="-300">
                <a:solidFill>
                  <a:schemeClr val="tx1"/>
                </a:soli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rPr>
              <a:t>D_callpredict Profiling</a:t>
            </a: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6D30D3DD-0C47-4419-8514-B9DEB111EF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1352166"/>
            <a:ext cx="10905066" cy="218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537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081E0-9426-4991-9B66-FD7DD877B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Profiling comparison amongst kernels.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52B59C3-D851-4F66-985B-0F34D4475A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233025" cy="8826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28EBA5-455C-43A6-82A5-A3AD586AD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275" y="2855068"/>
            <a:ext cx="10267950" cy="914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A4FCBE-32E7-4C55-A0AB-A59C431373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87" y="4019448"/>
            <a:ext cx="10601325" cy="914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74E628-5D42-436B-BABF-5B11FB55EE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167312"/>
            <a:ext cx="107823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3211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47586-F7B1-4C9D-A794-C8617FDA1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AE17588-C9BB-4676-ADD0-7797E91697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4412" y="1690688"/>
            <a:ext cx="10163175" cy="866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F70BCA-BEB4-49A7-8D25-07DF4BD68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37" y="2772078"/>
            <a:ext cx="10191750" cy="8858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CEC10D-875B-48FC-819F-EFCF1D3D31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837" y="3883026"/>
            <a:ext cx="10182225" cy="904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328DB0-304A-4F9A-86EE-4795C9E67C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362" y="5013024"/>
            <a:ext cx="1017270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2225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34762-2E1C-4D36-883B-B9B00AB53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FEA417B-26CC-42AB-88A7-E63354D39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9650" y="1889784"/>
            <a:ext cx="10172700" cy="8572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2CEF67-2DBA-406C-979C-57EEB9BF4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50" y="2995612"/>
            <a:ext cx="10172700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5719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69210-7608-4F63-89F9-C5E27AA3A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60A28-10BC-474E-A607-996A26DDE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GPU implementation is so much faster than CPU. GPU completes simulation in micro seconds while CPU completes in milliseconds.</a:t>
            </a:r>
          </a:p>
          <a:p>
            <a:endParaRPr lang="en-US" dirty="0"/>
          </a:p>
          <a:p>
            <a:r>
              <a:rPr lang="en-US" dirty="0"/>
              <a:t>Profiling on kernels gave idea on how code performs and how it can be improved.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808447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715</Words>
  <Application>Microsoft Office PowerPoint</Application>
  <PresentationFormat>Widescreen</PresentationFormat>
  <Paragraphs>77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Cambria Math</vt:lpstr>
      <vt:lpstr>Corbel</vt:lpstr>
      <vt:lpstr>Depth</vt:lpstr>
      <vt:lpstr>SVM using CUDA</vt:lpstr>
      <vt:lpstr>Introduction</vt:lpstr>
      <vt:lpstr>Theory</vt:lpstr>
      <vt:lpstr>Contd.</vt:lpstr>
      <vt:lpstr>CPU Implementation</vt:lpstr>
      <vt:lpstr>Contd.</vt:lpstr>
      <vt:lpstr>CPU Benchmark</vt:lpstr>
      <vt:lpstr>GPU Implementation</vt:lpstr>
      <vt:lpstr>d_getAllOptimal</vt:lpstr>
      <vt:lpstr>d_findMinOptimal</vt:lpstr>
      <vt:lpstr>d_callpredict</vt:lpstr>
      <vt:lpstr>GPU Profiling Overview</vt:lpstr>
      <vt:lpstr>Profiling Overview</vt:lpstr>
      <vt:lpstr>Profiling</vt:lpstr>
      <vt:lpstr>D_findMinOptimal Profiling</vt:lpstr>
      <vt:lpstr>D_callpredict Profiling</vt:lpstr>
      <vt:lpstr>Profiling comparison amongst kernels.</vt:lpstr>
      <vt:lpstr>Contd.</vt:lpstr>
      <vt:lpstr>Contd.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SVM using CUDA</dc:title>
  <dc:creator>Gokul V Gopal</dc:creator>
  <cp:lastModifiedBy>Gokul V Gopal</cp:lastModifiedBy>
  <cp:revision>7</cp:revision>
  <dcterms:created xsi:type="dcterms:W3CDTF">2019-05-11T03:44:01Z</dcterms:created>
  <dcterms:modified xsi:type="dcterms:W3CDTF">2019-10-15T16:21:01Z</dcterms:modified>
</cp:coreProperties>
</file>